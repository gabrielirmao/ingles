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442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D0674F-3371-73B1-870D-FC7F0E7A26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7E8191-5592-4584-7AD4-F1B62A6196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6D55D23-AB45-84D4-1D6B-A27E71A34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B63FC-B79E-4927-9415-6F9732EDF218}" type="datetimeFigureOut">
              <a:rPr lang="pt-BR" smtClean="0"/>
              <a:t>26/08/2025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674C95A-23C2-EEE9-64CA-6BF8F8209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B60C9E7-41D1-02EC-D500-EFA72EF5A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108A9-A0D5-4F68-AD72-708F34772A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4086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669ACD-3C39-A2AD-812D-C5CFE7656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6FA9F8-F7F2-6CF7-016C-F2DE684EC6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A4BAAA2-21EF-5474-04EA-8A72B0137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B63FC-B79E-4927-9415-6F9732EDF218}" type="datetimeFigureOut">
              <a:rPr lang="pt-BR" smtClean="0"/>
              <a:t>26/08/2025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CD70C63-6CBE-DC7F-3218-1E6172B0C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D4A43A1-E4D3-FC1F-25EF-A4FAFB41B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108A9-A0D5-4F68-AD72-708F34772A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5438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298B9D-A2B7-4290-6A31-22163291E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224496F-3D58-21E6-FAC1-301EE7940C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D66CC6A-C462-3EBE-F4E9-401F87FBA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B63FC-B79E-4927-9415-6F9732EDF218}" type="datetimeFigureOut">
              <a:rPr lang="pt-BR" smtClean="0"/>
              <a:t>26/08/2025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647A9BE-A158-92AA-CC22-7762E322A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0CDF627-9043-0B46-A734-A374D1538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108A9-A0D5-4F68-AD72-708F34772A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1317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82FC09-A125-767B-8223-0A76F024E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8C01FDF-F012-08AF-8D56-8113781D4D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4931A23-FE18-5181-1AAF-AEA92AE11C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C79A569-857D-0711-3019-F076F5F3D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B63FC-B79E-4927-9415-6F9732EDF218}" type="datetimeFigureOut">
              <a:rPr lang="pt-BR" smtClean="0"/>
              <a:t>26/08/2025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2203490-5D4D-13DB-E6C9-14BE5B35D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96D4DBB-356E-6073-61C5-C6FD9C5DB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108A9-A0D5-4F68-AD72-708F34772A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5728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98C3CB-D7C2-0388-9E8C-EB157BE46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1EE79EB-3CBB-5E72-014A-15FA161211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12DC937-36B8-B24B-BBB3-F2FA098788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2EDCA7A-C9FF-A816-C1B3-2C637CF45F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B485122-D666-B3CC-807A-E680AC0358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AAB0B6A-5486-3F5F-C204-843F81A65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B63FC-B79E-4927-9415-6F9732EDF218}" type="datetimeFigureOut">
              <a:rPr lang="pt-BR" smtClean="0"/>
              <a:t>26/08/2025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F3A4790-EBCB-85D6-DE26-B850DFA15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6331DB3-46D8-D2C5-7577-213ED1E22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108A9-A0D5-4F68-AD72-708F34772A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1570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6BC011-B067-D573-B720-CA65E9C2A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833A40A-6D7F-8629-F67D-6F23D9F1F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B63FC-B79E-4927-9415-6F9732EDF218}" type="datetimeFigureOut">
              <a:rPr lang="pt-BR" smtClean="0"/>
              <a:t>26/08/2025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F0C2A96-DD1F-DDAF-99F1-104D50261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FF9E09E-3108-689C-4E1F-3AE9F7DA7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108A9-A0D5-4F68-AD72-708F34772A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2074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ED54729-1ED9-1D9C-0856-A8BD1A2EB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B63FC-B79E-4927-9415-6F9732EDF218}" type="datetimeFigureOut">
              <a:rPr lang="pt-BR" smtClean="0"/>
              <a:t>26/08/2025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F374E03-7D09-FC15-FA4B-6121F22D1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1B92343-6B02-E3A8-512B-D12CB43D2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108A9-A0D5-4F68-AD72-708F34772A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6071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E32AC5-8A99-BF7D-9A63-D6F30A213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C7F8110-8641-21CD-445A-4394C29A05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80D71C5-8958-70CF-EA69-90BF547E3A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96C7345-6C8C-FD7C-D27D-EF37D1714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B63FC-B79E-4927-9415-6F9732EDF218}" type="datetimeFigureOut">
              <a:rPr lang="pt-BR" smtClean="0"/>
              <a:t>26/08/2025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754A8D5-78AD-E1FB-938B-2AE7E42AA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0ED1169-8188-7C55-608D-3D5BF2FA8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108A9-A0D5-4F68-AD72-708F34772A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3885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C70639-0FA0-4E48-2B12-E4BF71061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2125B48-6CD4-8DD7-5200-CEEF954C62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63E096D-CF49-1D9F-70D4-D59919BDD0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99D4EAC-9596-A46C-C702-9B1E085A4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B63FC-B79E-4927-9415-6F9732EDF218}" type="datetimeFigureOut">
              <a:rPr lang="pt-BR" smtClean="0"/>
              <a:t>26/08/2025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599E150-1E6E-1DD1-0673-094332BC9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87BB004-EEA8-D92C-42F2-C70A5EB6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108A9-A0D5-4F68-AD72-708F34772A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9782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81E45B-FDE9-7F4C-F28F-A61C064B0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663500A-9EE9-DDFC-1B7F-5896F2B54D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313172C-ACBD-D667-ED65-F0BD305B0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B63FC-B79E-4927-9415-6F9732EDF218}" type="datetimeFigureOut">
              <a:rPr lang="pt-BR" smtClean="0"/>
              <a:t>26/08/2025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9AEF0A9-51E0-190C-C785-76A08A8E4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476FD1B-2C35-13B8-14A8-3986B0995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108A9-A0D5-4F68-AD72-708F34772A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6053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3A2CD88-1FD2-04B1-F6C6-3B7C99F3DC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2A2515D-08A9-78DC-8FA2-34985D676F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43AB2B8-EB25-6C1C-B872-FC9E4E44C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B63FC-B79E-4927-9415-6F9732EDF218}" type="datetimeFigureOut">
              <a:rPr lang="pt-BR" smtClean="0"/>
              <a:t>26/08/2025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8AA9AD2-FB3E-B21E-72F0-17CE9D312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3F61696-36D3-F9E3-15B1-8EA7E22B2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108A9-A0D5-4F68-AD72-708F34772A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6990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92503">
              <a:schemeClr val="bg1"/>
            </a:gs>
            <a:gs pos="0">
              <a:schemeClr val="accent5">
                <a:lumMod val="20000"/>
                <a:lumOff val="80000"/>
              </a:schemeClr>
            </a:gs>
            <a:gs pos="74000">
              <a:schemeClr val="bg1"/>
            </a:gs>
            <a:gs pos="83000">
              <a:schemeClr val="accent5">
                <a:lumMod val="20000"/>
                <a:lumOff val="80000"/>
              </a:schemeClr>
            </a:gs>
            <a:gs pos="100000">
              <a:schemeClr val="accent5">
                <a:lumMod val="40000"/>
                <a:lumOff val="6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863C769-325C-8953-01A4-FFA1E0D1C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F6B7459-66F0-29D7-124B-122BB5044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63806B4-5990-2074-62CA-E9731A2F93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FB63FC-B79E-4927-9415-6F9732EDF218}" type="datetimeFigureOut">
              <a:rPr lang="pt-BR" smtClean="0"/>
              <a:t>26/08/2025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78CEB37-2B36-40CE-3B2A-365C94A1C9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FD5D74A-6025-617B-EB59-87DE801C00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3108A9-A0D5-4F68-AD72-708F34772A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6816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A79559D-BA8D-2A7D-93E2-ADA4E3C30C8E}"/>
              </a:ext>
            </a:extLst>
          </p:cNvPr>
          <p:cNvSpPr/>
          <p:nvPr/>
        </p:nvSpPr>
        <p:spPr>
          <a:xfrm>
            <a:off x="1504176" y="2444821"/>
            <a:ext cx="9526967" cy="166199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masis MT Pro Black" panose="02040A04050005020304" pitchFamily="18" charset="0"/>
              </a:rPr>
              <a:t>conjunctions and punctuation</a:t>
            </a:r>
          </a:p>
          <a:p>
            <a:pPr algn="ctr"/>
            <a:endParaRPr lang="pt-BR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28411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82CAC878-C39D-B1B2-D7C3-CDBDB3FFDC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8942" y="1538015"/>
            <a:ext cx="8486015" cy="29546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2400" b="1" i="0" u="none" strike="noStrike" cap="none" normalizeH="0" baseline="0" dirty="0" err="1">
                <a:ln>
                  <a:noFill/>
                </a:ln>
                <a:solidFill>
                  <a:srgbClr val="003366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Coordinating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rgbClr val="003366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 </a:t>
            </a:r>
            <a:r>
              <a:rPr kumimoji="0" lang="pt-BR" altLang="pt-BR" sz="2400" b="1" i="0" u="none" strike="noStrike" cap="none" normalizeH="0" baseline="0" dirty="0" err="1">
                <a:ln>
                  <a:noFill/>
                </a:ln>
                <a:solidFill>
                  <a:srgbClr val="003366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Conjunctions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rgbClr val="003366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 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masis MT Pro" panose="020F0502020204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These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 words are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placed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 in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the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middle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of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 a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sentence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to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join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two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independent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clauses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and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should</a:t>
            </a: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 follow a </a:t>
            </a:r>
            <a:r>
              <a:rPr kumimoji="0" lang="pt-BR" altLang="pt-BR" sz="2400" b="1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comma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Although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the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punctuation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is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often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omitted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 in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everyday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writing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,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you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should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 make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an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effort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to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 use it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because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the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comma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 serves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to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clearly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separate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the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parts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of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the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sentence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and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 helps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the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reader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 follow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your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ideas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 more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easily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masis MT Pro" panose="020F0502020204030204" pitchFamily="18" charset="0"/>
                <a:cs typeface="Open Sans" panose="020B0606030504020204" pitchFamily="34" charset="0"/>
              </a:rPr>
              <a:t>.</a:t>
            </a: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masis MT Pro" panose="020F0502020204030204" pitchFamily="18" charset="0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E85DFC9-42EA-5132-CCF5-5840DDEA80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377"/>
          <a:stretch>
            <a:fillRect/>
          </a:stretch>
        </p:blipFill>
        <p:spPr bwMode="auto">
          <a:xfrm>
            <a:off x="9927771" y="972567"/>
            <a:ext cx="1687285" cy="4912865"/>
          </a:xfrm>
          <a:prstGeom prst="rect">
            <a:avLst/>
          </a:prstGeom>
          <a:noFill/>
          <a:effectLst>
            <a:softEdge rad="2921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0817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48DA8AF-215E-E3E5-095A-321C7A90FC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fontAlgn="base">
              <a:buNone/>
            </a:pPr>
            <a:r>
              <a:rPr lang="en-US" b="1" dirty="0">
                <a:latin typeface="Amasis MT Pro" panose="02040504050005020304" pitchFamily="18" charset="0"/>
              </a:rPr>
              <a:t>Correct:</a:t>
            </a:r>
            <a:r>
              <a:rPr lang="en-US" dirty="0">
                <a:latin typeface="Amasis MT Pro" panose="02040504050005020304" pitchFamily="18" charset="0"/>
              </a:rPr>
              <a:t> AI has enormous potential to improve people’s</a:t>
            </a:r>
            <a:r>
              <a:rPr lang="en-US" b="1" dirty="0">
                <a:latin typeface="Amasis MT Pro" panose="02040504050005020304" pitchFamily="18" charset="0"/>
              </a:rPr>
              <a:t> lives, but</a:t>
            </a:r>
            <a:r>
              <a:rPr lang="en-US" dirty="0">
                <a:latin typeface="Amasis MT Pro" panose="02040504050005020304" pitchFamily="18" charset="0"/>
              </a:rPr>
              <a:t> it also comes with some risks.</a:t>
            </a:r>
          </a:p>
          <a:p>
            <a:pPr marL="0" indent="0" fontAlgn="base">
              <a:buNone/>
            </a:pPr>
            <a:endParaRPr lang="en-US" dirty="0">
              <a:latin typeface="Amasis MT Pro" panose="02040504050005020304" pitchFamily="18" charset="0"/>
            </a:endParaRPr>
          </a:p>
          <a:p>
            <a:pPr marL="0" indent="0" fontAlgn="base">
              <a:buNone/>
            </a:pPr>
            <a:r>
              <a:rPr lang="en-US" b="1" dirty="0">
                <a:latin typeface="Amasis MT Pro" panose="02040504050005020304" pitchFamily="18" charset="0"/>
              </a:rPr>
              <a:t>Avoid: </a:t>
            </a:r>
            <a:r>
              <a:rPr lang="en-US" dirty="0">
                <a:latin typeface="Amasis MT Pro" panose="02040504050005020304" pitchFamily="18" charset="0"/>
              </a:rPr>
              <a:t>AI has enormous potential to improve people’s </a:t>
            </a:r>
            <a:r>
              <a:rPr lang="en-US" b="1" dirty="0">
                <a:latin typeface="Amasis MT Pro" panose="02040504050005020304" pitchFamily="18" charset="0"/>
              </a:rPr>
              <a:t>lives but</a:t>
            </a:r>
            <a:r>
              <a:rPr lang="en-US" dirty="0">
                <a:latin typeface="Amasis MT Pro" panose="02040504050005020304" pitchFamily="18" charset="0"/>
              </a:rPr>
              <a:t> it also comes with some risks.</a:t>
            </a:r>
          </a:p>
          <a:p>
            <a:pPr marL="0" indent="0" fontAlgn="base">
              <a:buNone/>
            </a:pPr>
            <a:endParaRPr lang="en-US" dirty="0">
              <a:latin typeface="Amasis MT Pro" panose="02040504050005020304" pitchFamily="18" charset="0"/>
            </a:endParaRPr>
          </a:p>
          <a:p>
            <a:pPr marL="0" indent="0" fontAlgn="base">
              <a:buNone/>
            </a:pPr>
            <a:r>
              <a:rPr lang="en-US" dirty="0">
                <a:latin typeface="Amasis MT Pro" panose="02040504050005020304" pitchFamily="18" charset="0"/>
              </a:rPr>
              <a:t>Note, however, that if a subject does not appear in the second clause, the comma is unnecessary.</a:t>
            </a:r>
            <a:r>
              <a:rPr lang="en-US" b="1" dirty="0">
                <a:latin typeface="Amasis MT Pro" panose="02040504050005020304" pitchFamily="18" charset="0"/>
              </a:rPr>
              <a:t> </a:t>
            </a:r>
            <a:endParaRPr lang="en-US" dirty="0">
              <a:latin typeface="Amasis MT Pro" panose="02040504050005020304" pitchFamily="18" charset="0"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69052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34612F-BBD6-AE54-AD96-0231EA298F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fontAlgn="base">
              <a:buNone/>
            </a:pPr>
            <a:r>
              <a:rPr lang="en-US" b="1" dirty="0">
                <a:latin typeface="Amasis MT Pro" panose="02040504050005020304" pitchFamily="18" charset="0"/>
              </a:rPr>
              <a:t>Correct:</a:t>
            </a:r>
            <a:r>
              <a:rPr lang="en-US" dirty="0">
                <a:latin typeface="Amasis MT Pro" panose="02040504050005020304" pitchFamily="18" charset="0"/>
              </a:rPr>
              <a:t> AI has enormous potential to improve people’s</a:t>
            </a:r>
            <a:r>
              <a:rPr lang="en-US" b="1" dirty="0">
                <a:latin typeface="Amasis MT Pro" panose="02040504050005020304" pitchFamily="18" charset="0"/>
              </a:rPr>
              <a:t> lives but also comes</a:t>
            </a:r>
            <a:r>
              <a:rPr lang="en-US" dirty="0">
                <a:latin typeface="Amasis MT Pro" panose="02040504050005020304" pitchFamily="18" charset="0"/>
              </a:rPr>
              <a:t> with some risks.</a:t>
            </a:r>
          </a:p>
          <a:p>
            <a:pPr marL="0" indent="0" fontAlgn="base">
              <a:buNone/>
            </a:pPr>
            <a:endParaRPr lang="en-US" dirty="0">
              <a:latin typeface="Amasis MT Pro" panose="02040504050005020304" pitchFamily="18" charset="0"/>
            </a:endParaRPr>
          </a:p>
          <a:p>
            <a:pPr marL="0" indent="0" fontAlgn="base">
              <a:buNone/>
            </a:pPr>
            <a:r>
              <a:rPr lang="en-US" b="1" dirty="0">
                <a:latin typeface="Amasis MT Pro" panose="02040504050005020304" pitchFamily="18" charset="0"/>
              </a:rPr>
              <a:t>Iffy: </a:t>
            </a:r>
            <a:r>
              <a:rPr lang="en-US" dirty="0">
                <a:latin typeface="Amasis MT Pro" panose="02040504050005020304" pitchFamily="18" charset="0"/>
              </a:rPr>
              <a:t>AI has enormous potential to improve people’s </a:t>
            </a:r>
            <a:r>
              <a:rPr lang="en-US" b="1" dirty="0">
                <a:latin typeface="Amasis MT Pro" panose="02040504050005020304" pitchFamily="18" charset="0"/>
              </a:rPr>
              <a:t>lives, but also comes </a:t>
            </a:r>
            <a:r>
              <a:rPr lang="en-US" dirty="0">
                <a:latin typeface="Amasis MT Pro" panose="02040504050005020304" pitchFamily="18" charset="0"/>
              </a:rPr>
              <a:t>with some risks.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6823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99C4956-1AC9-86E7-038E-E18F5F5341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8939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 fontAlgn="base">
              <a:buNone/>
            </a:pPr>
            <a:r>
              <a:rPr lang="en-US" dirty="0">
                <a:latin typeface="Amasis MT Pro" panose="02040504050005020304" pitchFamily="18" charset="0"/>
              </a:rPr>
              <a:t>In addition, you should not place a comma </a:t>
            </a:r>
            <a:r>
              <a:rPr lang="en-US" b="1" dirty="0">
                <a:latin typeface="Amasis MT Pro" panose="02040504050005020304" pitchFamily="18" charset="0"/>
              </a:rPr>
              <a:t>after</a:t>
            </a:r>
            <a:r>
              <a:rPr lang="en-US" dirty="0">
                <a:latin typeface="Amasis MT Pro" panose="02040504050005020304" pitchFamily="18" charset="0"/>
              </a:rPr>
              <a:t> a conjunction.</a:t>
            </a:r>
          </a:p>
          <a:p>
            <a:pPr marL="0" indent="0" fontAlgn="base">
              <a:buNone/>
            </a:pPr>
            <a:endParaRPr lang="en-US" b="1" dirty="0">
              <a:latin typeface="Amasis MT Pro" panose="02040504050005020304" pitchFamily="18" charset="0"/>
            </a:endParaRPr>
          </a:p>
          <a:p>
            <a:pPr marL="0" indent="0" fontAlgn="base">
              <a:buNone/>
            </a:pPr>
            <a:r>
              <a:rPr lang="en-US" b="1" dirty="0">
                <a:solidFill>
                  <a:srgbClr val="FF0000"/>
                </a:solidFill>
                <a:latin typeface="Amasis MT Pro" panose="02040504050005020304" pitchFamily="18" charset="0"/>
              </a:rPr>
              <a:t>Incorrect:</a:t>
            </a:r>
            <a:r>
              <a:rPr lang="en-US" b="1" dirty="0">
                <a:latin typeface="Amasis MT Pro" panose="02040504050005020304" pitchFamily="18" charset="0"/>
              </a:rPr>
              <a:t> </a:t>
            </a:r>
            <a:r>
              <a:rPr lang="en-US" dirty="0">
                <a:latin typeface="Amasis MT Pro" panose="02040504050005020304" pitchFamily="18" charset="0"/>
              </a:rPr>
              <a:t>AI has enormous potential to improve people’s </a:t>
            </a:r>
            <a:r>
              <a:rPr lang="en-US" b="1" strike="sngStrike" dirty="0">
                <a:solidFill>
                  <a:srgbClr val="FF0000"/>
                </a:solidFill>
                <a:latin typeface="Amasis MT Pro" panose="02040504050005020304" pitchFamily="18" charset="0"/>
              </a:rPr>
              <a:t>lives, but, </a:t>
            </a:r>
            <a:r>
              <a:rPr lang="en-US" dirty="0">
                <a:latin typeface="Amasis MT Pro" panose="02040504050005020304" pitchFamily="18" charset="0"/>
              </a:rPr>
              <a:t>it also comes with some risks.</a:t>
            </a:r>
          </a:p>
          <a:p>
            <a:pPr marL="0" indent="0" fontAlgn="base">
              <a:buNone/>
            </a:pPr>
            <a:endParaRPr lang="en-US" dirty="0">
              <a:latin typeface="Amasis MT Pro" panose="02040504050005020304" pitchFamily="18" charset="0"/>
            </a:endParaRPr>
          </a:p>
          <a:p>
            <a:pPr marL="0" indent="0" fontAlgn="base">
              <a:buNone/>
            </a:pPr>
            <a:r>
              <a:rPr lang="en-US" dirty="0">
                <a:latin typeface="Amasis MT Pro" panose="02040504050005020304" pitchFamily="18" charset="0"/>
              </a:rPr>
              <a:t>Occasionally, and primarily in journalistic or informal writing, conjunctions may be used at the beginning of a sentence (following a period/full stop) for emphasis, but in formal writing, this use should typically be avoided.</a:t>
            </a:r>
          </a:p>
          <a:p>
            <a:pPr marL="0" indent="0" fontAlgn="base">
              <a:buNone/>
            </a:pPr>
            <a:endParaRPr lang="en-US" b="1" dirty="0">
              <a:latin typeface="Amasis MT Pro" panose="02040504050005020304" pitchFamily="18" charset="0"/>
            </a:endParaRPr>
          </a:p>
          <a:p>
            <a:pPr marL="0" indent="0" fontAlgn="base">
              <a:buNone/>
            </a:pPr>
            <a:r>
              <a:rPr lang="en-US" b="1" dirty="0">
                <a:latin typeface="Amasis MT Pro" panose="02040504050005020304" pitchFamily="18" charset="0"/>
              </a:rPr>
              <a:t>Avoid: </a:t>
            </a:r>
            <a:r>
              <a:rPr lang="en-US" dirty="0">
                <a:latin typeface="Amasis MT Pro" panose="02040504050005020304" pitchFamily="18" charset="0"/>
              </a:rPr>
              <a:t>AI has enormous potential to improve people’s </a:t>
            </a:r>
            <a:r>
              <a:rPr lang="en-US" b="1" dirty="0">
                <a:latin typeface="Amasis MT Pro" panose="02040504050005020304" pitchFamily="18" charset="0"/>
              </a:rPr>
              <a:t>lives. But it</a:t>
            </a:r>
            <a:r>
              <a:rPr lang="en-US" dirty="0">
                <a:latin typeface="Amasis MT Pro" panose="02040504050005020304" pitchFamily="18" charset="0"/>
              </a:rPr>
              <a:t> comes with some risks.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60002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51D1B9D9-A973-3ADD-A66A-3A9C53BE912E}"/>
              </a:ext>
            </a:extLst>
          </p:cNvPr>
          <p:cNvSpPr txBox="1"/>
          <p:nvPr/>
        </p:nvSpPr>
        <p:spPr>
          <a:xfrm>
            <a:off x="685801" y="1133679"/>
            <a:ext cx="943791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None/>
            </a:pPr>
            <a:r>
              <a:rPr lang="en-US" sz="2400" b="1" i="0" dirty="0">
                <a:solidFill>
                  <a:srgbClr val="003366"/>
                </a:solidFill>
                <a:effectLst/>
                <a:latin typeface="Amasis MT Pro" panose="02040504050005020304" pitchFamily="18" charset="0"/>
              </a:rPr>
              <a:t>Subordinating Conjunctions </a:t>
            </a:r>
          </a:p>
          <a:p>
            <a:pPr algn="l" fontAlgn="base">
              <a:buNone/>
            </a:pPr>
            <a:endParaRPr lang="en-US" sz="2400" b="0" i="0" dirty="0">
              <a:solidFill>
                <a:srgbClr val="184C90"/>
              </a:solidFill>
              <a:effectLst/>
              <a:latin typeface="Amasis MT Pro" panose="02040504050005020304" pitchFamily="18" charset="0"/>
            </a:endParaRPr>
          </a:p>
          <a:p>
            <a:pPr algn="l" fontAlgn="base">
              <a:buNone/>
            </a:pPr>
            <a:r>
              <a:rPr lang="en-US" sz="2400" b="0" i="0" dirty="0">
                <a:solidFill>
                  <a:srgbClr val="222222"/>
                </a:solidFill>
                <a:effectLst/>
                <a:latin typeface="Amasis MT Pro" panose="02040504050005020304" pitchFamily="18" charset="0"/>
              </a:rPr>
              <a:t>These conjunctions join dependent clauses (fragments) and independent. They can be placed either at the beginning of an entire sentence, or at the beginning of a clause in the middle of a sentence.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1A7EB1B-A530-C16B-7E07-735A1F8F9D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8896" y="3189513"/>
            <a:ext cx="4814207" cy="3209471"/>
          </a:xfrm>
          <a:prstGeom prst="rect">
            <a:avLst/>
          </a:prstGeom>
          <a:noFill/>
          <a:effectLst>
            <a:softEdge rad="2413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496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27B3B89D-0993-FC11-A73C-BFEA0145A978}"/>
              </a:ext>
            </a:extLst>
          </p:cNvPr>
          <p:cNvSpPr txBox="1"/>
          <p:nvPr/>
        </p:nvSpPr>
        <p:spPr>
          <a:xfrm>
            <a:off x="936171" y="907427"/>
            <a:ext cx="1031965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None/>
            </a:pPr>
            <a:r>
              <a:rPr lang="en-US" sz="2400" b="0" i="0" dirty="0">
                <a:solidFill>
                  <a:srgbClr val="003366"/>
                </a:solidFill>
                <a:effectLst/>
                <a:latin typeface="Amasis MT Pro" panose="02040504050005020304" pitchFamily="18" charset="0"/>
              </a:rPr>
              <a:t>When the clause beg</a:t>
            </a:r>
            <a:r>
              <a:rPr lang="en-US" sz="2400" dirty="0">
                <a:solidFill>
                  <a:srgbClr val="003366"/>
                </a:solidFill>
                <a:latin typeface="Amasis MT Pro" panose="02040504050005020304" pitchFamily="18" charset="0"/>
              </a:rPr>
              <a:t>un</a:t>
            </a:r>
            <a:r>
              <a:rPr lang="en-US" sz="2400" b="0" i="0" dirty="0">
                <a:solidFill>
                  <a:srgbClr val="003366"/>
                </a:solidFill>
                <a:effectLst/>
                <a:latin typeface="Amasis MT Pro" panose="02040504050005020304" pitchFamily="18" charset="0"/>
              </a:rPr>
              <a:t> by a subordinating conjunction,</a:t>
            </a:r>
            <a:r>
              <a:rPr lang="en-US" sz="2400" b="0" i="0" dirty="0">
                <a:solidFill>
                  <a:srgbClr val="222222"/>
                </a:solidFill>
                <a:effectLst/>
                <a:latin typeface="Amasis MT Pro" panose="02040504050005020304" pitchFamily="18" charset="0"/>
              </a:rPr>
              <a:t> a comma </a:t>
            </a:r>
            <a:r>
              <a:rPr lang="en-US" sz="2400" b="1" i="0" dirty="0">
                <a:solidFill>
                  <a:srgbClr val="222222"/>
                </a:solidFill>
                <a:effectLst/>
                <a:latin typeface="Amasis MT Pro" panose="02040504050005020304" pitchFamily="18" charset="0"/>
              </a:rPr>
              <a:t>must</a:t>
            </a:r>
            <a:r>
              <a:rPr lang="en-US" sz="2400" b="0" i="0" dirty="0">
                <a:solidFill>
                  <a:srgbClr val="222222"/>
                </a:solidFill>
                <a:effectLst/>
                <a:latin typeface="Amasis MT Pro" panose="02040504050005020304" pitchFamily="18" charset="0"/>
              </a:rPr>
              <a:t> be placed before the independent clause.</a:t>
            </a:r>
          </a:p>
          <a:p>
            <a:pPr algn="l" fontAlgn="base">
              <a:buNone/>
            </a:pPr>
            <a:endParaRPr lang="en-US" sz="2400" b="0" i="0" dirty="0">
              <a:solidFill>
                <a:srgbClr val="222222"/>
              </a:solidFill>
              <a:effectLst/>
              <a:latin typeface="Amasis MT Pro" panose="02040504050005020304" pitchFamily="18" charset="0"/>
            </a:endParaRPr>
          </a:p>
          <a:p>
            <a:pPr algn="l" fontAlgn="base">
              <a:buNone/>
            </a:pPr>
            <a:r>
              <a:rPr lang="en-US" sz="2400" b="1" i="0" dirty="0">
                <a:solidFill>
                  <a:srgbClr val="003366"/>
                </a:solidFill>
                <a:effectLst/>
                <a:latin typeface="Amasis MT Pro" panose="02040504050005020304" pitchFamily="18" charset="0"/>
              </a:rPr>
              <a:t>Correct: </a:t>
            </a:r>
            <a:r>
              <a:rPr lang="en-US" sz="2400" b="0" i="0" u="sng" dirty="0">
                <a:solidFill>
                  <a:srgbClr val="222222"/>
                </a:solidFill>
                <a:effectLst/>
                <a:latin typeface="Amasis MT Pro" panose="02040504050005020304" pitchFamily="18" charset="0"/>
              </a:rPr>
              <a:t>Although</a:t>
            </a:r>
            <a:r>
              <a:rPr lang="en-US" sz="2400" b="0" i="0" dirty="0">
                <a:solidFill>
                  <a:srgbClr val="222222"/>
                </a:solidFill>
                <a:effectLst/>
                <a:latin typeface="Amasis MT Pro" panose="02040504050005020304" pitchFamily="18" charset="0"/>
              </a:rPr>
              <a:t> gene-editing technologies have enormous potential to improve people’s </a:t>
            </a:r>
            <a:r>
              <a:rPr lang="en-US" sz="2400" b="1" i="0" dirty="0">
                <a:effectLst/>
                <a:latin typeface="Amasis MT Pro" panose="02040504050005020304" pitchFamily="18" charset="0"/>
              </a:rPr>
              <a:t>lives, they</a:t>
            </a:r>
            <a:r>
              <a:rPr lang="en-US" sz="2400" b="0" i="0" dirty="0">
                <a:effectLst/>
                <a:latin typeface="Amasis MT Pro" panose="02040504050005020304" pitchFamily="18" charset="0"/>
              </a:rPr>
              <a:t> </a:t>
            </a:r>
            <a:r>
              <a:rPr lang="en-US" sz="2400" b="0" i="0" dirty="0">
                <a:solidFill>
                  <a:srgbClr val="222222"/>
                </a:solidFill>
                <a:effectLst/>
                <a:latin typeface="Amasis MT Pro" panose="02040504050005020304" pitchFamily="18" charset="0"/>
              </a:rPr>
              <a:t>come with many serious risks.</a:t>
            </a:r>
          </a:p>
          <a:p>
            <a:pPr algn="l" fontAlgn="base">
              <a:buNone/>
            </a:pPr>
            <a:endParaRPr lang="en-US" sz="2400" b="0" i="0" dirty="0">
              <a:solidFill>
                <a:srgbClr val="222222"/>
              </a:solidFill>
              <a:effectLst/>
              <a:latin typeface="Amasis MT Pro" panose="02040504050005020304" pitchFamily="18" charset="0"/>
            </a:endParaRPr>
          </a:p>
          <a:p>
            <a:pPr algn="l" fontAlgn="base">
              <a:buNone/>
            </a:pPr>
            <a:r>
              <a:rPr lang="en-US" sz="2400" b="1" i="0" dirty="0">
                <a:solidFill>
                  <a:srgbClr val="003366"/>
                </a:solidFill>
                <a:effectLst/>
                <a:latin typeface="Amasis MT Pro" panose="02040504050005020304" pitchFamily="18" charset="0"/>
              </a:rPr>
              <a:t>Incorrect: </a:t>
            </a:r>
            <a:r>
              <a:rPr lang="en-US" sz="2400" b="0" i="0" u="sng" dirty="0">
                <a:solidFill>
                  <a:srgbClr val="222222"/>
                </a:solidFill>
                <a:effectLst/>
                <a:latin typeface="Amasis MT Pro" panose="02040504050005020304" pitchFamily="18" charset="0"/>
              </a:rPr>
              <a:t>Although</a:t>
            </a:r>
            <a:r>
              <a:rPr lang="en-US" sz="2400" b="0" i="0" dirty="0">
                <a:solidFill>
                  <a:srgbClr val="222222"/>
                </a:solidFill>
                <a:effectLst/>
                <a:latin typeface="Amasis MT Pro" panose="02040504050005020304" pitchFamily="18" charset="0"/>
              </a:rPr>
              <a:t> gene-editing technologies have enormous potential to improve people’s </a:t>
            </a:r>
            <a:r>
              <a:rPr lang="en-US" sz="2400" b="1" i="0" strike="sngStrike" dirty="0">
                <a:solidFill>
                  <a:srgbClr val="FF0000"/>
                </a:solidFill>
                <a:effectLst/>
                <a:latin typeface="Amasis MT Pro" panose="02040504050005020304" pitchFamily="18" charset="0"/>
              </a:rPr>
              <a:t>lives they</a:t>
            </a:r>
            <a:r>
              <a:rPr lang="en-US" sz="2400" b="0" i="0" strike="sngStrike" dirty="0">
                <a:solidFill>
                  <a:srgbClr val="222222"/>
                </a:solidFill>
                <a:effectLst/>
                <a:latin typeface="Amasis MT Pro" panose="02040504050005020304" pitchFamily="18" charset="0"/>
              </a:rPr>
              <a:t> </a:t>
            </a:r>
            <a:r>
              <a:rPr lang="en-US" sz="2400" b="0" i="0" dirty="0">
                <a:solidFill>
                  <a:srgbClr val="222222"/>
                </a:solidFill>
                <a:effectLst/>
                <a:latin typeface="Amasis MT Pro" panose="02040504050005020304" pitchFamily="18" charset="0"/>
              </a:rPr>
              <a:t>come with many serious risks.</a:t>
            </a:r>
          </a:p>
          <a:p>
            <a:pPr algn="l" fontAlgn="base">
              <a:buNone/>
            </a:pPr>
            <a:endParaRPr lang="en-US" sz="2400" b="0" i="0" dirty="0">
              <a:solidFill>
                <a:srgbClr val="222222"/>
              </a:solidFill>
              <a:effectLst/>
              <a:latin typeface="Amasis MT Pro" panose="02040504050005020304" pitchFamily="18" charset="0"/>
            </a:endParaRPr>
          </a:p>
          <a:p>
            <a:pPr algn="l" fontAlgn="base">
              <a:buNone/>
            </a:pPr>
            <a:r>
              <a:rPr lang="en-US" sz="2400" b="0" i="0" dirty="0">
                <a:solidFill>
                  <a:srgbClr val="003366"/>
                </a:solidFill>
                <a:effectLst/>
                <a:latin typeface="Amasis MT Pro" panose="02040504050005020304" pitchFamily="18" charset="0"/>
              </a:rPr>
              <a:t>If the independent clause comes first,</a:t>
            </a:r>
            <a:r>
              <a:rPr lang="en-US" sz="2400" b="0" i="0" dirty="0">
                <a:solidFill>
                  <a:srgbClr val="222222"/>
                </a:solidFill>
                <a:effectLst/>
                <a:latin typeface="Amasis MT Pro" panose="02040504050005020304" pitchFamily="18" charset="0"/>
              </a:rPr>
              <a:t> a comma is typically used before certain “strong” conjunctions, e.g., </a:t>
            </a:r>
            <a:r>
              <a:rPr lang="en-US" sz="2400" b="0" i="1" dirty="0">
                <a:solidFill>
                  <a:srgbClr val="222222"/>
                </a:solidFill>
                <a:effectLst/>
                <a:latin typeface="Amasis MT Pro" panose="02040504050005020304" pitchFamily="18" charset="0"/>
              </a:rPr>
              <a:t>(al)though</a:t>
            </a:r>
            <a:r>
              <a:rPr lang="en-US" sz="2400" b="0" i="0" dirty="0">
                <a:solidFill>
                  <a:srgbClr val="222222"/>
                </a:solidFill>
                <a:effectLst/>
                <a:latin typeface="Amasis MT Pro" panose="02040504050005020304" pitchFamily="18" charset="0"/>
              </a:rPr>
              <a:t>, </a:t>
            </a:r>
            <a:r>
              <a:rPr lang="en-US" sz="2400" b="0" i="1" dirty="0">
                <a:solidFill>
                  <a:srgbClr val="222222"/>
                </a:solidFill>
                <a:effectLst/>
                <a:latin typeface="Amasis MT Pro" panose="02040504050005020304" pitchFamily="18" charset="0"/>
              </a:rPr>
              <a:t>whereas</a:t>
            </a:r>
            <a:r>
              <a:rPr lang="en-US" sz="2400" b="0" i="0" dirty="0">
                <a:solidFill>
                  <a:srgbClr val="222222"/>
                </a:solidFill>
                <a:effectLst/>
                <a:latin typeface="Amasis MT Pro" panose="02040504050005020304" pitchFamily="18" charset="0"/>
              </a:rPr>
              <a:t>, and </a:t>
            </a:r>
            <a:r>
              <a:rPr lang="en-US" sz="2400" b="0" i="1" dirty="0">
                <a:solidFill>
                  <a:srgbClr val="222222"/>
                </a:solidFill>
                <a:effectLst/>
                <a:latin typeface="Amasis MT Pro" panose="02040504050005020304" pitchFamily="18" charset="0"/>
              </a:rPr>
              <a:t>while </a:t>
            </a:r>
            <a:r>
              <a:rPr lang="en-US" sz="2400" b="0" i="0" dirty="0">
                <a:solidFill>
                  <a:srgbClr val="222222"/>
                </a:solidFill>
                <a:effectLst/>
                <a:latin typeface="Amasis MT Pro" panose="02040504050005020304" pitchFamily="18" charset="0"/>
              </a:rPr>
              <a:t>(as a synonym for </a:t>
            </a:r>
            <a:r>
              <a:rPr lang="en-US" sz="2400" b="0" i="1" dirty="0">
                <a:solidFill>
                  <a:srgbClr val="222222"/>
                </a:solidFill>
                <a:effectLst/>
                <a:latin typeface="Amasis MT Pro" panose="02040504050005020304" pitchFamily="18" charset="0"/>
              </a:rPr>
              <a:t>whereas</a:t>
            </a:r>
            <a:r>
              <a:rPr lang="en-US" sz="2400" b="0" i="0" dirty="0">
                <a:solidFill>
                  <a:srgbClr val="222222"/>
                </a:solidFill>
                <a:effectLst/>
                <a:latin typeface="Amasis MT Pro" panose="02040504050005020304" pitchFamily="18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5247721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FFE1AF4D-ED1D-0C45-E133-EFFE8EF7DD5B}"/>
              </a:ext>
            </a:extLst>
          </p:cNvPr>
          <p:cNvSpPr txBox="1"/>
          <p:nvPr/>
        </p:nvSpPr>
        <p:spPr>
          <a:xfrm>
            <a:off x="772886" y="580855"/>
            <a:ext cx="10646227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None/>
            </a:pPr>
            <a:r>
              <a:rPr lang="en-US" sz="2400" b="0" i="0" dirty="0">
                <a:solidFill>
                  <a:srgbClr val="222222"/>
                </a:solidFill>
                <a:effectLst/>
                <a:latin typeface="Amasis MT Pro" panose="02040504050005020304" pitchFamily="18" charset="0"/>
              </a:rPr>
              <a:t>If a sentence is long and complex, it may make sense to place a comma before another conjunction, e.g. </a:t>
            </a:r>
            <a:r>
              <a:rPr lang="en-US" sz="2400" b="0" i="1" dirty="0">
                <a:solidFill>
                  <a:srgbClr val="222222"/>
                </a:solidFill>
                <a:effectLst/>
                <a:latin typeface="Amasis MT Pro" panose="02040504050005020304" pitchFamily="18" charset="0"/>
              </a:rPr>
              <a:t>since</a:t>
            </a:r>
            <a:r>
              <a:rPr lang="en-US" sz="2400" b="0" i="0" dirty="0">
                <a:solidFill>
                  <a:srgbClr val="222222"/>
                </a:solidFill>
                <a:effectLst/>
                <a:latin typeface="Amasis MT Pro" panose="02040504050005020304" pitchFamily="18" charset="0"/>
              </a:rPr>
              <a:t> or </a:t>
            </a:r>
            <a:r>
              <a:rPr lang="en-US" sz="2400" b="0" i="1" dirty="0">
                <a:solidFill>
                  <a:srgbClr val="222222"/>
                </a:solidFill>
                <a:effectLst/>
                <a:latin typeface="Amasis MT Pro" panose="02040504050005020304" pitchFamily="18" charset="0"/>
              </a:rPr>
              <a:t>unless</a:t>
            </a:r>
            <a:r>
              <a:rPr lang="en-US" sz="2400" b="0" i="0" dirty="0">
                <a:solidFill>
                  <a:srgbClr val="222222"/>
                </a:solidFill>
                <a:effectLst/>
                <a:latin typeface="Amasis MT Pro" panose="02040504050005020304" pitchFamily="18" charset="0"/>
              </a:rPr>
              <a:t>. If a sentence is short and straightforward, however, the comma is unnecessary.</a:t>
            </a:r>
          </a:p>
          <a:p>
            <a:pPr algn="l" fontAlgn="base">
              <a:buNone/>
            </a:pPr>
            <a:endParaRPr lang="en-US" sz="2400" b="0" i="0" dirty="0">
              <a:solidFill>
                <a:srgbClr val="222222"/>
              </a:solidFill>
              <a:effectLst/>
              <a:latin typeface="Amasis MT Pro" panose="02040504050005020304" pitchFamily="18" charset="0"/>
            </a:endParaRPr>
          </a:p>
          <a:p>
            <a:pPr algn="l" fontAlgn="base">
              <a:buNone/>
            </a:pPr>
            <a:r>
              <a:rPr lang="en-US" sz="2400" b="1" i="0" dirty="0">
                <a:solidFill>
                  <a:srgbClr val="003366"/>
                </a:solidFill>
                <a:effectLst/>
                <a:latin typeface="Amasis MT Pro" panose="02040504050005020304" pitchFamily="18" charset="0"/>
              </a:rPr>
              <a:t>Correct: </a:t>
            </a:r>
            <a:r>
              <a:rPr lang="en-US" sz="2400" b="0" i="0" dirty="0">
                <a:solidFill>
                  <a:srgbClr val="222222"/>
                </a:solidFill>
                <a:effectLst/>
                <a:latin typeface="Amasis MT Pro" panose="02040504050005020304" pitchFamily="18" charset="0"/>
              </a:rPr>
              <a:t>Gene-editing technologies have enormous potential to improve people’s </a:t>
            </a:r>
            <a:r>
              <a:rPr lang="en-US" sz="2400" b="1" i="0" dirty="0">
                <a:solidFill>
                  <a:srgbClr val="FF0000"/>
                </a:solidFill>
                <a:effectLst/>
                <a:latin typeface="Amasis MT Pro" panose="02040504050005020304" pitchFamily="18" charset="0"/>
              </a:rPr>
              <a:t>lives, although they</a:t>
            </a:r>
            <a:r>
              <a:rPr lang="en-US" sz="2400" b="0" i="0" dirty="0">
                <a:solidFill>
                  <a:srgbClr val="222222"/>
                </a:solidFill>
                <a:effectLst/>
                <a:latin typeface="Amasis MT Pro" panose="02040504050005020304" pitchFamily="18" charset="0"/>
              </a:rPr>
              <a:t> come with many serious risks.</a:t>
            </a:r>
          </a:p>
          <a:p>
            <a:pPr algn="l" fontAlgn="base">
              <a:buNone/>
            </a:pPr>
            <a:endParaRPr lang="en-US" sz="2400" b="0" i="0" dirty="0">
              <a:solidFill>
                <a:srgbClr val="222222"/>
              </a:solidFill>
              <a:effectLst/>
              <a:latin typeface="Amasis MT Pro" panose="02040504050005020304" pitchFamily="18" charset="0"/>
            </a:endParaRPr>
          </a:p>
          <a:p>
            <a:pPr algn="l" fontAlgn="base">
              <a:buNone/>
            </a:pPr>
            <a:r>
              <a:rPr lang="en-US" sz="2400" b="1" i="0" dirty="0">
                <a:solidFill>
                  <a:srgbClr val="003366"/>
                </a:solidFill>
                <a:effectLst/>
                <a:latin typeface="Amasis MT Pro" panose="02040504050005020304" pitchFamily="18" charset="0"/>
              </a:rPr>
              <a:t>Correct:</a:t>
            </a:r>
            <a:r>
              <a:rPr lang="en-US" sz="2400" b="0" i="0" dirty="0">
                <a:solidFill>
                  <a:srgbClr val="222222"/>
                </a:solidFill>
                <a:effectLst/>
                <a:latin typeface="Amasis MT Pro" panose="02040504050005020304" pitchFamily="18" charset="0"/>
              </a:rPr>
              <a:t> Gene-editing technologies come with many serious</a:t>
            </a:r>
            <a:r>
              <a:rPr lang="en-US" sz="2400" b="1" i="0" dirty="0">
                <a:solidFill>
                  <a:srgbClr val="FF0000"/>
                </a:solidFill>
                <a:effectLst/>
                <a:latin typeface="Amasis MT Pro" panose="02040504050005020304" pitchFamily="18" charset="0"/>
              </a:rPr>
              <a:t> risks because</a:t>
            </a:r>
            <a:r>
              <a:rPr lang="en-US" sz="2400" b="0" i="0" dirty="0">
                <a:solidFill>
                  <a:srgbClr val="222222"/>
                </a:solidFill>
                <a:effectLst/>
                <a:latin typeface="Amasis MT Pro" panose="02040504050005020304" pitchFamily="18" charset="0"/>
              </a:rPr>
              <a:t> they allow scientists to manipulate the fundamental building blocks of life.</a:t>
            </a:r>
          </a:p>
          <a:p>
            <a:pPr algn="l" fontAlgn="base">
              <a:buNone/>
            </a:pPr>
            <a:endParaRPr lang="en-US" sz="2400" b="0" i="0" dirty="0">
              <a:solidFill>
                <a:srgbClr val="222222"/>
              </a:solidFill>
              <a:effectLst/>
              <a:latin typeface="Amasis MT Pro" panose="02040504050005020304" pitchFamily="18" charset="0"/>
            </a:endParaRPr>
          </a:p>
          <a:p>
            <a:pPr algn="l" fontAlgn="base">
              <a:buNone/>
            </a:pPr>
            <a:r>
              <a:rPr lang="en-US" sz="2400" b="1" i="0" dirty="0">
                <a:solidFill>
                  <a:srgbClr val="003366"/>
                </a:solidFill>
                <a:effectLst/>
                <a:latin typeface="Amasis MT Pro" panose="02040504050005020304" pitchFamily="18" charset="0"/>
              </a:rPr>
              <a:t>Avoid:</a:t>
            </a:r>
            <a:r>
              <a:rPr lang="en-US" sz="2400" b="0" i="0" dirty="0">
                <a:solidFill>
                  <a:srgbClr val="003366"/>
                </a:solidFill>
                <a:effectLst/>
                <a:latin typeface="Amasis MT Pro" panose="02040504050005020304" pitchFamily="18" charset="0"/>
              </a:rPr>
              <a:t> </a:t>
            </a:r>
            <a:r>
              <a:rPr lang="en-US" sz="2400" b="0" i="0" dirty="0">
                <a:solidFill>
                  <a:srgbClr val="222222"/>
                </a:solidFill>
                <a:effectLst/>
                <a:latin typeface="Amasis MT Pro" panose="02040504050005020304" pitchFamily="18" charset="0"/>
              </a:rPr>
              <a:t>Gene-editing technologies come with many serious</a:t>
            </a:r>
            <a:r>
              <a:rPr lang="en-US" sz="2400" b="1" i="0" dirty="0">
                <a:solidFill>
                  <a:srgbClr val="FF0000"/>
                </a:solidFill>
                <a:effectLst/>
                <a:latin typeface="Amasis MT Pro" panose="02040504050005020304" pitchFamily="18" charset="0"/>
              </a:rPr>
              <a:t> risks, because</a:t>
            </a:r>
            <a:r>
              <a:rPr lang="en-US" sz="2400" b="0" i="0" dirty="0">
                <a:solidFill>
                  <a:srgbClr val="222222"/>
                </a:solidFill>
                <a:effectLst/>
                <a:latin typeface="Amasis MT Pro" panose="02040504050005020304" pitchFamily="18" charset="0"/>
              </a:rPr>
              <a:t> they allow scientists to manipulate the fundamental building blocks of life.</a:t>
            </a:r>
          </a:p>
        </p:txBody>
      </p:sp>
    </p:spTree>
    <p:extLst>
      <p:ext uri="{BB962C8B-B14F-4D97-AF65-F5344CB8AC3E}">
        <p14:creationId xmlns:p14="http://schemas.microsoft.com/office/powerpoint/2010/main" val="130313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92A1B45E-AEE6-70E2-C9BD-1EB8CE4BB3BA}"/>
              </a:ext>
            </a:extLst>
          </p:cNvPr>
          <p:cNvSpPr txBox="1"/>
          <p:nvPr/>
        </p:nvSpPr>
        <p:spPr>
          <a:xfrm>
            <a:off x="789215" y="1657367"/>
            <a:ext cx="1061357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None/>
            </a:pPr>
            <a:r>
              <a:rPr lang="en-US" sz="2400" b="0" i="0" dirty="0">
                <a:solidFill>
                  <a:srgbClr val="222222"/>
                </a:solidFill>
                <a:effectLst/>
                <a:latin typeface="Amasis MT Pro" panose="02040504050005020304" pitchFamily="18" charset="0"/>
              </a:rPr>
              <a:t>Remember that  </a:t>
            </a:r>
            <a:r>
              <a:rPr lang="en-US" sz="2400" b="1" i="0" dirty="0">
                <a:solidFill>
                  <a:srgbClr val="222222"/>
                </a:solidFill>
                <a:effectLst/>
                <a:latin typeface="Amasis MT Pro" panose="02040504050005020304" pitchFamily="18" charset="0"/>
              </a:rPr>
              <a:t>single</a:t>
            </a:r>
            <a:r>
              <a:rPr lang="en-US" sz="2400" b="0" i="0" dirty="0">
                <a:solidFill>
                  <a:srgbClr val="222222"/>
                </a:solidFill>
                <a:effectLst/>
                <a:latin typeface="Amasis MT Pro" panose="02040504050005020304" pitchFamily="18" charset="0"/>
              </a:rPr>
              <a:t> clause begun by a subordinating conjunction is always dependent — it cannot stand on its own as a complete sentence and should not follow a period/full stop.</a:t>
            </a:r>
          </a:p>
          <a:p>
            <a:pPr algn="l" fontAlgn="base">
              <a:buNone/>
            </a:pPr>
            <a:endParaRPr lang="en-US" sz="2400" b="0" i="0" dirty="0">
              <a:solidFill>
                <a:srgbClr val="222222"/>
              </a:solidFill>
              <a:effectLst/>
              <a:latin typeface="Amasis MT Pro" panose="02040504050005020304" pitchFamily="18" charset="0"/>
            </a:endParaRPr>
          </a:p>
          <a:p>
            <a:pPr algn="l" fontAlgn="base">
              <a:buNone/>
            </a:pPr>
            <a:r>
              <a:rPr lang="en-US" sz="2400" b="0" i="0" dirty="0">
                <a:solidFill>
                  <a:srgbClr val="222222"/>
                </a:solidFill>
                <a:effectLst/>
                <a:latin typeface="Amasis MT Pro" panose="02040504050005020304" pitchFamily="18" charset="0"/>
              </a:rPr>
              <a:t>In addition, you should not place a comma </a:t>
            </a:r>
            <a:r>
              <a:rPr lang="en-US" sz="2400" b="1" i="0" dirty="0">
                <a:solidFill>
                  <a:srgbClr val="222222"/>
                </a:solidFill>
                <a:effectLst/>
                <a:latin typeface="Amasis MT Pro" panose="02040504050005020304" pitchFamily="18" charset="0"/>
              </a:rPr>
              <a:t>after</a:t>
            </a:r>
            <a:r>
              <a:rPr lang="en-US" sz="2400" b="0" i="0" dirty="0">
                <a:solidFill>
                  <a:srgbClr val="222222"/>
                </a:solidFill>
                <a:effectLst/>
                <a:latin typeface="Amasis MT Pro" panose="02040504050005020304" pitchFamily="18" charset="0"/>
              </a:rPr>
              <a:t> a subordinating conjunction.</a:t>
            </a:r>
          </a:p>
          <a:p>
            <a:pPr algn="l" fontAlgn="base">
              <a:buNone/>
            </a:pPr>
            <a:endParaRPr lang="en-US" sz="2400" b="1" i="0" dirty="0">
              <a:solidFill>
                <a:srgbClr val="003366"/>
              </a:solidFill>
              <a:effectLst/>
              <a:latin typeface="Amasis MT Pro" panose="02040504050005020304" pitchFamily="18" charset="0"/>
            </a:endParaRPr>
          </a:p>
          <a:p>
            <a:pPr algn="l" fontAlgn="base">
              <a:buNone/>
            </a:pPr>
            <a:r>
              <a:rPr lang="en-US" sz="2400" b="1" i="0" dirty="0">
                <a:solidFill>
                  <a:srgbClr val="003366"/>
                </a:solidFill>
                <a:effectLst/>
                <a:latin typeface="Amasis MT Pro" panose="02040504050005020304" pitchFamily="18" charset="0"/>
              </a:rPr>
              <a:t>Incorrect: </a:t>
            </a:r>
            <a:r>
              <a:rPr lang="en-US" sz="2400" b="0" i="0" dirty="0">
                <a:solidFill>
                  <a:srgbClr val="222222"/>
                </a:solidFill>
                <a:effectLst/>
                <a:latin typeface="Amasis MT Pro" panose="02040504050005020304" pitchFamily="18" charset="0"/>
              </a:rPr>
              <a:t>Gene-editing technologies have enormous potential to improve people’s </a:t>
            </a:r>
            <a:r>
              <a:rPr lang="en-US" sz="2400" b="1" i="0" strike="sngStrike" dirty="0">
                <a:solidFill>
                  <a:srgbClr val="FF0000"/>
                </a:solidFill>
                <a:effectLst/>
                <a:latin typeface="Amasis MT Pro" panose="02040504050005020304" pitchFamily="18" charset="0"/>
              </a:rPr>
              <a:t>lives. Although, they</a:t>
            </a:r>
            <a:r>
              <a:rPr lang="en-US" sz="2400" b="0" i="0" strike="sngStrike" dirty="0">
                <a:solidFill>
                  <a:srgbClr val="222222"/>
                </a:solidFill>
                <a:effectLst/>
                <a:latin typeface="Amasis MT Pro" panose="02040504050005020304" pitchFamily="18" charset="0"/>
              </a:rPr>
              <a:t> </a:t>
            </a:r>
            <a:r>
              <a:rPr lang="en-US" sz="2400" b="0" i="0" dirty="0">
                <a:solidFill>
                  <a:srgbClr val="222222"/>
                </a:solidFill>
                <a:effectLst/>
                <a:latin typeface="Amasis MT Pro" panose="02040504050005020304" pitchFamily="18" charset="0"/>
              </a:rPr>
              <a:t>come with many serious risks.</a:t>
            </a:r>
          </a:p>
        </p:txBody>
      </p:sp>
    </p:spTree>
    <p:extLst>
      <p:ext uri="{BB962C8B-B14F-4D97-AF65-F5344CB8AC3E}">
        <p14:creationId xmlns:p14="http://schemas.microsoft.com/office/powerpoint/2010/main" val="25826994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CE896C33-21B4-775D-DE3A-AE9DC2A8BB9F}"/>
              </a:ext>
            </a:extLst>
          </p:cNvPr>
          <p:cNvSpPr txBox="1"/>
          <p:nvPr/>
        </p:nvSpPr>
        <p:spPr>
          <a:xfrm>
            <a:off x="1080407" y="1209877"/>
            <a:ext cx="1003118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None/>
            </a:pPr>
            <a:r>
              <a:rPr lang="en-US" sz="2400" b="1" i="0" dirty="0">
                <a:solidFill>
                  <a:srgbClr val="003366"/>
                </a:solidFill>
                <a:effectLst/>
                <a:latin typeface="Amasis MT Pro" panose="02040504050005020304" pitchFamily="18" charset="0"/>
              </a:rPr>
              <a:t>Conjunctive Adverbs </a:t>
            </a:r>
          </a:p>
          <a:p>
            <a:pPr algn="l" fontAlgn="base">
              <a:buNone/>
            </a:pPr>
            <a:endParaRPr lang="en-US" sz="2400" b="0" i="0" dirty="0">
              <a:solidFill>
                <a:srgbClr val="184C90"/>
              </a:solidFill>
              <a:effectLst/>
              <a:latin typeface="Amasis MT Pro" panose="02040504050005020304" pitchFamily="18" charset="0"/>
            </a:endParaRPr>
          </a:p>
          <a:p>
            <a:pPr algn="l" fontAlgn="base">
              <a:buNone/>
            </a:pPr>
            <a:r>
              <a:rPr lang="en-US" sz="2400" b="0" i="0" dirty="0">
                <a:solidFill>
                  <a:srgbClr val="222222"/>
                </a:solidFill>
                <a:effectLst/>
                <a:latin typeface="Amasis MT Pro" panose="02040504050005020304" pitchFamily="18" charset="0"/>
              </a:rPr>
              <a:t>When conjunctive adverbs are placed at the beginning of a clause or sentence, they must follow a period (full stop) or semicolon. Although they are followed </a:t>
            </a:r>
            <a:r>
              <a:rPr lang="en-US" sz="2400" b="0" i="1" dirty="0">
                <a:solidFill>
                  <a:srgbClr val="222222"/>
                </a:solidFill>
                <a:effectLst/>
                <a:latin typeface="Amasis MT Pro" panose="02040504050005020304" pitchFamily="18" charset="0"/>
              </a:rPr>
              <a:t>by</a:t>
            </a:r>
            <a:r>
              <a:rPr lang="en-US" sz="2400" b="0" i="0" dirty="0">
                <a:solidFill>
                  <a:srgbClr val="222222"/>
                </a:solidFill>
                <a:effectLst/>
                <a:latin typeface="Amasis MT Pro" panose="02040504050005020304" pitchFamily="18" charset="0"/>
              </a:rPr>
              <a:t> a comma, </a:t>
            </a:r>
            <a:r>
              <a:rPr lang="en-US" sz="2400" b="1" i="0" dirty="0">
                <a:solidFill>
                  <a:srgbClr val="222222"/>
                </a:solidFill>
                <a:effectLst/>
                <a:latin typeface="Amasis MT Pro" panose="02040504050005020304" pitchFamily="18" charset="0"/>
              </a:rPr>
              <a:t>they cannot follow a comma. </a:t>
            </a:r>
          </a:p>
          <a:p>
            <a:pPr algn="l" fontAlgn="base">
              <a:buNone/>
            </a:pPr>
            <a:endParaRPr lang="en-US" sz="2400" b="1" dirty="0">
              <a:solidFill>
                <a:srgbClr val="222222"/>
              </a:solidFill>
              <a:latin typeface="Amasis MT Pro" panose="02040504050005020304" pitchFamily="18" charset="0"/>
            </a:endParaRPr>
          </a:p>
          <a:p>
            <a:pPr algn="l" fontAlgn="base">
              <a:buNone/>
            </a:pPr>
            <a:endParaRPr lang="en-US" sz="2400" b="0" i="0" dirty="0">
              <a:solidFill>
                <a:srgbClr val="222222"/>
              </a:solidFill>
              <a:effectLst/>
              <a:latin typeface="Amasis MT Pro" panose="02040504050005020304" pitchFamily="18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96494560-D1A3-2C69-7A34-7025A5CD75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5623" y="3254828"/>
            <a:ext cx="4340753" cy="2893835"/>
          </a:xfrm>
          <a:prstGeom prst="rect">
            <a:avLst/>
          </a:prstGeom>
          <a:noFill/>
          <a:effectLst>
            <a:softEdge rad="1651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18918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A8B1AA0-796C-62C9-FAA0-6C372DA4F382}"/>
              </a:ext>
            </a:extLst>
          </p:cNvPr>
          <p:cNvSpPr txBox="1"/>
          <p:nvPr/>
        </p:nvSpPr>
        <p:spPr>
          <a:xfrm>
            <a:off x="1197429" y="1864196"/>
            <a:ext cx="952499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None/>
            </a:pPr>
            <a:r>
              <a:rPr lang="en-US" sz="2400" b="1" i="0" dirty="0">
                <a:solidFill>
                  <a:srgbClr val="003366"/>
                </a:solidFill>
                <a:effectLst/>
                <a:latin typeface="Amasis MT Pro" panose="02040504050005020304" pitchFamily="18" charset="0"/>
              </a:rPr>
              <a:t>Correct: </a:t>
            </a:r>
            <a:r>
              <a:rPr lang="en-US" sz="2400" b="0" i="0" dirty="0">
                <a:solidFill>
                  <a:srgbClr val="222222"/>
                </a:solidFill>
                <a:effectLst/>
                <a:latin typeface="Amasis MT Pro" panose="02040504050005020304" pitchFamily="18" charset="0"/>
              </a:rPr>
              <a:t>Gene-editing technologies have enormous potential to improve people’s </a:t>
            </a:r>
            <a:r>
              <a:rPr lang="en-US" sz="2400" b="1" i="0" dirty="0">
                <a:solidFill>
                  <a:srgbClr val="FF0000"/>
                </a:solidFill>
                <a:effectLst/>
                <a:latin typeface="Amasis MT Pro" panose="02040504050005020304" pitchFamily="18" charset="0"/>
              </a:rPr>
              <a:t>lives. However, they</a:t>
            </a:r>
            <a:r>
              <a:rPr lang="en-US" sz="2400" b="0" i="0" dirty="0">
                <a:solidFill>
                  <a:srgbClr val="222222"/>
                </a:solidFill>
                <a:effectLst/>
                <a:latin typeface="Amasis MT Pro" panose="02040504050005020304" pitchFamily="18" charset="0"/>
              </a:rPr>
              <a:t> come with many serious risks.</a:t>
            </a:r>
          </a:p>
          <a:p>
            <a:pPr algn="l" fontAlgn="base">
              <a:buNone/>
            </a:pPr>
            <a:endParaRPr lang="en-US" sz="2400" b="0" i="0" dirty="0">
              <a:solidFill>
                <a:srgbClr val="222222"/>
              </a:solidFill>
              <a:effectLst/>
              <a:latin typeface="Amasis MT Pro" panose="02040504050005020304" pitchFamily="18" charset="0"/>
            </a:endParaRPr>
          </a:p>
          <a:p>
            <a:pPr algn="l" fontAlgn="base">
              <a:buNone/>
            </a:pPr>
            <a:r>
              <a:rPr lang="en-US" sz="2400" b="1" i="0" dirty="0">
                <a:solidFill>
                  <a:srgbClr val="003366"/>
                </a:solidFill>
                <a:effectLst/>
                <a:latin typeface="Amasis MT Pro" panose="02040504050005020304" pitchFamily="18" charset="0"/>
              </a:rPr>
              <a:t>Correct: </a:t>
            </a:r>
            <a:r>
              <a:rPr lang="en-US" sz="2400" b="0" i="0" dirty="0">
                <a:solidFill>
                  <a:srgbClr val="222222"/>
                </a:solidFill>
                <a:effectLst/>
                <a:latin typeface="Amasis MT Pro" panose="02040504050005020304" pitchFamily="18" charset="0"/>
              </a:rPr>
              <a:t>Gene-editing technologies have enormous potential to improve people’s </a:t>
            </a:r>
            <a:r>
              <a:rPr lang="en-US" sz="2400" b="1" i="0" dirty="0">
                <a:solidFill>
                  <a:srgbClr val="FF0000"/>
                </a:solidFill>
                <a:effectLst/>
                <a:latin typeface="Amasis MT Pro" panose="02040504050005020304" pitchFamily="18" charset="0"/>
              </a:rPr>
              <a:t>lives; however, they</a:t>
            </a:r>
            <a:r>
              <a:rPr lang="en-US" sz="2400" b="0" i="0" dirty="0">
                <a:solidFill>
                  <a:srgbClr val="222222"/>
                </a:solidFill>
                <a:effectLst/>
                <a:latin typeface="Amasis MT Pro" panose="02040504050005020304" pitchFamily="18" charset="0"/>
              </a:rPr>
              <a:t> come with many serious risks.</a:t>
            </a:r>
          </a:p>
          <a:p>
            <a:pPr algn="l" fontAlgn="base">
              <a:buNone/>
            </a:pPr>
            <a:endParaRPr lang="en-US" sz="2400" b="0" i="0" dirty="0">
              <a:solidFill>
                <a:srgbClr val="222222"/>
              </a:solidFill>
              <a:effectLst/>
              <a:latin typeface="Amasis MT Pro" panose="02040504050005020304" pitchFamily="18" charset="0"/>
            </a:endParaRPr>
          </a:p>
          <a:p>
            <a:pPr algn="l" fontAlgn="base">
              <a:buNone/>
            </a:pPr>
            <a:r>
              <a:rPr lang="en-US" sz="2400" b="1" i="0" dirty="0">
                <a:solidFill>
                  <a:srgbClr val="003366"/>
                </a:solidFill>
                <a:effectLst/>
                <a:latin typeface="Amasis MT Pro" panose="02040504050005020304" pitchFamily="18" charset="0"/>
              </a:rPr>
              <a:t>Incorrect:</a:t>
            </a:r>
            <a:r>
              <a:rPr lang="en-US" sz="2400" b="1" i="0" dirty="0">
                <a:solidFill>
                  <a:srgbClr val="FF0000"/>
                </a:solidFill>
                <a:effectLst/>
                <a:latin typeface="Amasis MT Pro" panose="02040504050005020304" pitchFamily="18" charset="0"/>
              </a:rPr>
              <a:t> </a:t>
            </a:r>
            <a:r>
              <a:rPr lang="en-US" sz="2400" b="0" i="0" dirty="0">
                <a:solidFill>
                  <a:srgbClr val="222222"/>
                </a:solidFill>
                <a:effectLst/>
                <a:latin typeface="Amasis MT Pro" panose="02040504050005020304" pitchFamily="18" charset="0"/>
              </a:rPr>
              <a:t>Gene-editing technologies have enormous potential to improve people’s </a:t>
            </a:r>
            <a:r>
              <a:rPr lang="en-US" sz="2400" b="1" i="0" strike="sngStrike" dirty="0">
                <a:solidFill>
                  <a:srgbClr val="FF0000"/>
                </a:solidFill>
                <a:effectLst/>
                <a:latin typeface="Amasis MT Pro" panose="02040504050005020304" pitchFamily="18" charset="0"/>
              </a:rPr>
              <a:t>lives, however, they</a:t>
            </a:r>
            <a:r>
              <a:rPr lang="en-US" sz="2400" b="0" i="0" strike="sngStrike" dirty="0">
                <a:solidFill>
                  <a:srgbClr val="222222"/>
                </a:solidFill>
                <a:effectLst/>
                <a:latin typeface="Amasis MT Pro" panose="02040504050005020304" pitchFamily="18" charset="0"/>
              </a:rPr>
              <a:t> </a:t>
            </a:r>
            <a:r>
              <a:rPr lang="en-US" sz="2400" b="0" i="0" dirty="0">
                <a:solidFill>
                  <a:srgbClr val="222222"/>
                </a:solidFill>
                <a:effectLst/>
                <a:latin typeface="Amasis MT Pro" panose="02040504050005020304" pitchFamily="18" charset="0"/>
              </a:rPr>
              <a:t>come with many serious risks.</a:t>
            </a:r>
          </a:p>
        </p:txBody>
      </p:sp>
    </p:spTree>
    <p:extLst>
      <p:ext uri="{BB962C8B-B14F-4D97-AF65-F5344CB8AC3E}">
        <p14:creationId xmlns:p14="http://schemas.microsoft.com/office/powerpoint/2010/main" val="29104909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CFED79F5-B40D-C2C4-8B55-0523497248A8}"/>
              </a:ext>
            </a:extLst>
          </p:cNvPr>
          <p:cNvSpPr txBox="1"/>
          <p:nvPr/>
        </p:nvSpPr>
        <p:spPr>
          <a:xfrm>
            <a:off x="1077686" y="1279382"/>
            <a:ext cx="98298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None/>
            </a:pPr>
            <a:r>
              <a:rPr lang="en-US" sz="2400" dirty="0">
                <a:solidFill>
                  <a:srgbClr val="222222"/>
                </a:solidFill>
                <a:latin typeface="Amasis MT Pro" panose="02040504050005020304" pitchFamily="18" charset="0"/>
              </a:rPr>
              <a:t>E</a:t>
            </a:r>
            <a:r>
              <a:rPr lang="en-US" sz="2400" b="0" i="0" dirty="0">
                <a:solidFill>
                  <a:srgbClr val="222222"/>
                </a:solidFill>
                <a:effectLst/>
                <a:latin typeface="Amasis MT Pro" panose="02040504050005020304" pitchFamily="18" charset="0"/>
              </a:rPr>
              <a:t>xample with </a:t>
            </a:r>
            <a:r>
              <a:rPr lang="en-US" sz="2400" b="0" i="1" dirty="0">
                <a:solidFill>
                  <a:srgbClr val="222222"/>
                </a:solidFill>
                <a:effectLst/>
                <a:latin typeface="Amasis MT Pro" panose="02040504050005020304" pitchFamily="18" charset="0"/>
              </a:rPr>
              <a:t>thus</a:t>
            </a:r>
            <a:r>
              <a:rPr lang="en-US" sz="2400" b="0" i="0" dirty="0">
                <a:solidFill>
                  <a:srgbClr val="222222"/>
                </a:solidFill>
                <a:effectLst/>
                <a:latin typeface="Amasis MT Pro" panose="02040504050005020304" pitchFamily="18" charset="0"/>
              </a:rPr>
              <a:t>:</a:t>
            </a:r>
          </a:p>
          <a:p>
            <a:pPr algn="l" fontAlgn="base">
              <a:buNone/>
            </a:pPr>
            <a:endParaRPr lang="en-US" sz="2400" b="0" i="0" dirty="0">
              <a:solidFill>
                <a:srgbClr val="222222"/>
              </a:solidFill>
              <a:effectLst/>
              <a:latin typeface="Amasis MT Pro" panose="02040504050005020304" pitchFamily="18" charset="0"/>
            </a:endParaRPr>
          </a:p>
          <a:p>
            <a:pPr algn="l" fontAlgn="base">
              <a:buNone/>
            </a:pPr>
            <a:r>
              <a:rPr lang="en-US" sz="2400" b="1" i="0" dirty="0">
                <a:solidFill>
                  <a:srgbClr val="003366"/>
                </a:solidFill>
                <a:effectLst/>
                <a:latin typeface="Amasis MT Pro" panose="02040504050005020304" pitchFamily="18" charset="0"/>
              </a:rPr>
              <a:t>Correct: </a:t>
            </a:r>
            <a:r>
              <a:rPr lang="en-US" sz="2400" b="0" i="0" dirty="0">
                <a:solidFill>
                  <a:srgbClr val="222222"/>
                </a:solidFill>
                <a:effectLst/>
                <a:latin typeface="Amasis MT Pro" panose="02040504050005020304" pitchFamily="18" charset="0"/>
              </a:rPr>
              <a:t>AI come</a:t>
            </a:r>
            <a:r>
              <a:rPr lang="en-US" sz="2400" dirty="0">
                <a:solidFill>
                  <a:srgbClr val="222222"/>
                </a:solidFill>
                <a:latin typeface="Amasis MT Pro" panose="02040504050005020304" pitchFamily="18" charset="0"/>
              </a:rPr>
              <a:t>s</a:t>
            </a:r>
            <a:r>
              <a:rPr lang="en-US" sz="2400" b="0" i="0" dirty="0">
                <a:solidFill>
                  <a:srgbClr val="222222"/>
                </a:solidFill>
                <a:effectLst/>
                <a:latin typeface="Amasis MT Pro" panose="02040504050005020304" pitchFamily="18" charset="0"/>
              </a:rPr>
              <a:t> with some </a:t>
            </a:r>
            <a:r>
              <a:rPr lang="en-US" sz="2400" b="1" i="0" dirty="0">
                <a:solidFill>
                  <a:srgbClr val="FF0000"/>
                </a:solidFill>
                <a:effectLst/>
                <a:latin typeface="Amasis MT Pro" panose="02040504050005020304" pitchFamily="18" charset="0"/>
              </a:rPr>
              <a:t>risks. Thus, it</a:t>
            </a:r>
            <a:r>
              <a:rPr lang="en-US" sz="2400" b="0" i="0" dirty="0">
                <a:solidFill>
                  <a:srgbClr val="222222"/>
                </a:solidFill>
                <a:effectLst/>
                <a:latin typeface="Amasis MT Pro" panose="02040504050005020304" pitchFamily="18" charset="0"/>
              </a:rPr>
              <a:t> must be carefully regulated.</a:t>
            </a:r>
          </a:p>
          <a:p>
            <a:pPr algn="l" fontAlgn="base">
              <a:buNone/>
            </a:pPr>
            <a:endParaRPr lang="en-US" sz="2400" b="0" i="0" dirty="0">
              <a:solidFill>
                <a:srgbClr val="222222"/>
              </a:solidFill>
              <a:effectLst/>
              <a:latin typeface="Amasis MT Pro" panose="02040504050005020304" pitchFamily="18" charset="0"/>
            </a:endParaRPr>
          </a:p>
          <a:p>
            <a:pPr algn="l" fontAlgn="base">
              <a:buNone/>
            </a:pPr>
            <a:r>
              <a:rPr lang="en-US" sz="2400" b="1" i="0" dirty="0">
                <a:solidFill>
                  <a:srgbClr val="003366"/>
                </a:solidFill>
                <a:effectLst/>
                <a:latin typeface="Amasis MT Pro" panose="02040504050005020304" pitchFamily="18" charset="0"/>
              </a:rPr>
              <a:t>Correct: </a:t>
            </a:r>
            <a:r>
              <a:rPr lang="en-US" sz="2400" b="0" i="0" dirty="0">
                <a:solidFill>
                  <a:srgbClr val="222222"/>
                </a:solidFill>
                <a:effectLst/>
                <a:latin typeface="Amasis MT Pro" panose="02040504050005020304" pitchFamily="18" charset="0"/>
              </a:rPr>
              <a:t>AI comes with some </a:t>
            </a:r>
            <a:r>
              <a:rPr lang="en-US" sz="2400" b="1" i="0" dirty="0">
                <a:solidFill>
                  <a:srgbClr val="FF0000"/>
                </a:solidFill>
                <a:effectLst/>
                <a:latin typeface="Amasis MT Pro" panose="02040504050005020304" pitchFamily="18" charset="0"/>
              </a:rPr>
              <a:t>risks; thus, it</a:t>
            </a:r>
            <a:r>
              <a:rPr lang="en-US" sz="2400" b="0" i="0" dirty="0">
                <a:solidFill>
                  <a:srgbClr val="222222"/>
                </a:solidFill>
                <a:effectLst/>
                <a:latin typeface="Amasis MT Pro" panose="02040504050005020304" pitchFamily="18" charset="0"/>
              </a:rPr>
              <a:t> must be carefully regulated.</a:t>
            </a:r>
          </a:p>
          <a:p>
            <a:pPr algn="l" fontAlgn="base">
              <a:buNone/>
            </a:pPr>
            <a:endParaRPr lang="en-US" sz="2400" b="0" i="0" dirty="0">
              <a:solidFill>
                <a:srgbClr val="222222"/>
              </a:solidFill>
              <a:effectLst/>
              <a:latin typeface="Amasis MT Pro" panose="02040504050005020304" pitchFamily="18" charset="0"/>
            </a:endParaRPr>
          </a:p>
          <a:p>
            <a:pPr algn="l" fontAlgn="base">
              <a:buNone/>
            </a:pPr>
            <a:r>
              <a:rPr lang="en-US" sz="2400" b="1" i="0" dirty="0">
                <a:solidFill>
                  <a:srgbClr val="003366"/>
                </a:solidFill>
                <a:effectLst/>
                <a:latin typeface="Amasis MT Pro" panose="02040504050005020304" pitchFamily="18" charset="0"/>
              </a:rPr>
              <a:t>Incorrect: </a:t>
            </a:r>
            <a:r>
              <a:rPr lang="en-US" sz="2400" b="0" i="0" dirty="0">
                <a:solidFill>
                  <a:srgbClr val="222222"/>
                </a:solidFill>
                <a:effectLst/>
                <a:latin typeface="Amasis MT Pro" panose="02040504050005020304" pitchFamily="18" charset="0"/>
              </a:rPr>
              <a:t>AI comes with some </a:t>
            </a:r>
            <a:r>
              <a:rPr lang="en-US" sz="2400" b="1" i="0" strike="sngStrike" dirty="0">
                <a:solidFill>
                  <a:srgbClr val="FF0000"/>
                </a:solidFill>
                <a:effectLst/>
                <a:latin typeface="Amasis MT Pro" panose="02040504050005020304" pitchFamily="18" charset="0"/>
              </a:rPr>
              <a:t>risks, thus, it</a:t>
            </a:r>
            <a:r>
              <a:rPr lang="en-US" sz="2400" b="0" i="0" strike="sngStrike" dirty="0">
                <a:solidFill>
                  <a:srgbClr val="222222"/>
                </a:solidFill>
                <a:effectLst/>
                <a:latin typeface="Amasis MT Pro" panose="02040504050005020304" pitchFamily="18" charset="0"/>
              </a:rPr>
              <a:t> </a:t>
            </a:r>
            <a:r>
              <a:rPr lang="en-US" sz="2400" b="0" i="0" dirty="0">
                <a:solidFill>
                  <a:srgbClr val="222222"/>
                </a:solidFill>
                <a:effectLst/>
                <a:latin typeface="Amasis MT Pro" panose="02040504050005020304" pitchFamily="18" charset="0"/>
              </a:rPr>
              <a:t>must be carefully regulated.</a:t>
            </a:r>
          </a:p>
        </p:txBody>
      </p:sp>
    </p:spTree>
    <p:extLst>
      <p:ext uri="{BB962C8B-B14F-4D97-AF65-F5344CB8AC3E}">
        <p14:creationId xmlns:p14="http://schemas.microsoft.com/office/powerpoint/2010/main" val="233299148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723</Words>
  <Application>Microsoft Office PowerPoint</Application>
  <PresentationFormat>Widescreen</PresentationFormat>
  <Paragraphs>57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8" baseType="lpstr">
      <vt:lpstr>Amasis MT Pro</vt:lpstr>
      <vt:lpstr>Amasis MT Pro Black</vt:lpstr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Cybelle Crane</dc:creator>
  <cp:lastModifiedBy>Cybelle Crane</cp:lastModifiedBy>
  <cp:revision>2</cp:revision>
  <dcterms:created xsi:type="dcterms:W3CDTF">2025-08-26T21:47:01Z</dcterms:created>
  <dcterms:modified xsi:type="dcterms:W3CDTF">2025-08-26T22:17:53Z</dcterms:modified>
</cp:coreProperties>
</file>